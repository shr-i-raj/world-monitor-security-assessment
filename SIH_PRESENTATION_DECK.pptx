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21A2B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F2FE"/>
                </a:solidFill>
              </a:defRPr>
            </a:pPr>
            <a:r>
              <a:t>SMART INDIA HACKATHON 2026  |  PROBLEM STATEMENT ID: SIH26163</a:t>
            </a:r>
          </a:p>
          <a:p>
            <a:pPr>
              <a:spcBef>
                <a:spcPts val="1000"/>
              </a:spcBef>
              <a:defRPr sz="3000" b="1">
                <a:solidFill>
                  <a:srgbClr val="FFFFFF"/>
                </a:solidFill>
              </a:defRPr>
            </a:pPr>
            <a:r>
              <a:t>SECURITY ASSESSMENT OF WORLD MONITOR</a:t>
            </a:r>
          </a:p>
          <a:p>
            <a:pPr>
              <a:spcBef>
                <a:spcPts val="800"/>
              </a:spcBef>
              <a:defRPr sz="1500">
                <a:solidFill>
                  <a:srgbClr val="CBD5E1"/>
                </a:solidFill>
              </a:defRPr>
            </a:pPr>
            <a:r>
              <a:t>Vulnerability Assessment &amp; Penetration Testing (VAPT) Audit, Automated Test Suite &amp; Code Patches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3017520"/>
            <a:ext cx="9997135" cy="2834640"/>
          </a:xfrm>
          <a:prstGeom prst="roundRect">
            <a:avLst/>
          </a:prstGeom>
          <a:solidFill>
            <a:srgbClr val="0C111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600"/>
              </a:spcAft>
            </a:pPr>
            <a:r>
              <a:rPr b="1" sz="1300">
                <a:solidFill>
                  <a:srgbClr val="00F2FE"/>
                </a:solidFill>
              </a:rPr>
              <a:t>•  Problem Statement ID: </a:t>
            </a:r>
            <a:r>
              <a:rPr sz="1300">
                <a:solidFill>
                  <a:srgbClr val="FFFFFF"/>
                </a:solidFill>
              </a:rPr>
              <a:t>SIH26163 (Serial No. 163)    |    </a:t>
            </a:r>
            <a:r>
              <a:rPr b="1" sz="1300">
                <a:solidFill>
                  <a:srgbClr val="F59E0B"/>
                </a:solidFill>
              </a:rPr>
              <a:t>Sponsoring Agency: </a:t>
            </a:r>
            <a:r>
              <a:rPr sz="1300">
                <a:solidFill>
                  <a:srgbClr val="FFFFFF"/>
                </a:solidFill>
              </a:rPr>
              <a:t>National Technical Research Organisation (NTRO)</a:t>
            </a:r>
          </a:p>
          <a:p>
            <a:pPr>
              <a:spcAft>
                <a:spcPts val="1600"/>
              </a:spcAft>
            </a:pPr>
            <a:r>
              <a:rPr b="1" sz="1300">
                <a:solidFill>
                  <a:srgbClr val="00F2FE"/>
                </a:solidFill>
              </a:rPr>
              <a:t>•  PS Category: </a:t>
            </a:r>
            <a:r>
              <a:rPr sz="1300">
                <a:solidFill>
                  <a:srgbClr val="FFFFFF"/>
                </a:solidFill>
              </a:rPr>
              <a:t>Software Edition    |    </a:t>
            </a:r>
            <a:r>
              <a:rPr b="1" sz="1300">
                <a:solidFill>
                  <a:srgbClr val="F59E0B"/>
                </a:solidFill>
              </a:rPr>
              <a:t>Theme / Domain: </a:t>
            </a:r>
            <a:r>
              <a:rPr sz="1300">
                <a:solidFill>
                  <a:srgbClr val="FFFFFF"/>
                </a:solidFill>
              </a:rPr>
              <a:t>Smart Automation / Cybersecurity</a:t>
            </a:r>
          </a:p>
          <a:p>
            <a:pPr>
              <a:spcAft>
                <a:spcPts val="1600"/>
              </a:spcAft>
            </a:pPr>
            <a:r>
              <a:rPr b="1" sz="1300">
                <a:solidFill>
                  <a:srgbClr val="00F2FE"/>
                </a:solidFill>
              </a:rPr>
              <a:t>•  Core Deliverables: </a:t>
            </a:r>
            <a:r>
              <a:rPr sz="1300">
                <a:solidFill>
                  <a:srgbClr val="FFFFFF"/>
                </a:solidFill>
              </a:rPr>
              <a:t>VAPT Audit Report, Discovery Guide, Automated Test Harness, 5 Code Patches    |    </a:t>
            </a:r>
            <a:r>
              <a:rPr b="1" sz="1300">
                <a:solidFill>
                  <a:srgbClr val="F59E0B"/>
                </a:solidFill>
              </a:rPr>
              <a:t>Team Name: </a:t>
            </a:r>
            <a:r>
              <a:rPr sz="1300">
                <a:solidFill>
                  <a:srgbClr val="FFFFFF"/>
                </a:solidFill>
              </a:rPr>
              <a:t>Security Assessment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★ SMART INDIA HACKATHON 2026 | PS ID: SIH26163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65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⚡ NTRO SPONSORING AGENCY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320040"/>
            <a:ext cx="914400" cy="347472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02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PROPOSED SOLUTION &amp; PROTOTYPE OVERVIEW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End-to-End VAPT Audit Framework, Automated Test Harness &amp; Security Patches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74720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00F2FE"/>
                </a:solidFill>
              </a:defRPr>
            </a:pPr>
            <a:r>
              <a:t>VAPT Audit Framework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Evaluates 7 core vulnerability vectors across Vercel Edge Runtime proxies, CORS policies, session tokens, and DOM parsers.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Maps every finding with root cause analysis, steps to reproduce, and CVSS v3.1 ratings.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623560"/>
            <a:ext cx="2926080" cy="365760"/>
          </a:xfrm>
          <a:prstGeom prst="roundRect">
            <a:avLst/>
          </a:prstGeom>
          <a:solidFill>
            <a:srgbClr val="0C111D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7 VULNERABILITIES AUDITED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474720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F59E0B"/>
                </a:solidFill>
              </a:defRPr>
            </a:pPr>
            <a:r>
              <a:t>NTRO Requirements Met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Delivers 5 production-ready code patches preventing cloud metadata exfiltration (169.254.169.254) and loopback access.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Includes an executable Python test suite (run_security_audit.py) for CI/CD regression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5623560"/>
            <a:ext cx="2926080" cy="365760"/>
          </a:xfrm>
          <a:prstGeom prst="roundRect">
            <a:avLst/>
          </a:prstGeom>
          <a:solidFill>
            <a:srgbClr val="0C111D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5 PRODUCTION PATCHES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91640"/>
            <a:ext cx="3474720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10B981"/>
                </a:solidFill>
              </a:defRPr>
            </a:pPr>
            <a:r>
              <a:t>Key Innovation &amp; Uniqueness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Socket-Pinned Edge DNS Resolution: Solves Vercel Edge Runtime DNS Rebinding (TOCTOU) via single-pass IP connection handling.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• Zero-Dependency Test Harness: Pure Python audit runner executing full security suite in &lt;5s.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5623560"/>
            <a:ext cx="2926080" cy="365760"/>
          </a:xfrm>
          <a:prstGeom prst="roundRect">
            <a:avLst/>
          </a:prstGeom>
          <a:solidFill>
            <a:srgbClr val="0C111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&lt; 5s EXECUTION RUNNER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★ SMART INDIA HACKATHON 2026 | PS ID: SIH26163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65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⚡ NTRO SPONSORING AGENCY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320040"/>
            <a:ext cx="914400" cy="347472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03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TECHNICAL APPROACH &amp; AUDIT METHODOLOGY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Systematic Security Evaluation Process Grounded in OWASP WSTG v4.2 &amp; NIST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114800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2FE"/>
                </a:solidFill>
              </a:defRPr>
            </a:pPr>
            <a:r>
              <a:t>Technologies &amp; Frameworks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✔  Audit Suite: Python 3 (Runner &amp; PoC Exploits).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✔  Target Edge APIs: TypeScript / JavaScript.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✔  Security Standards: OWASP WSTG v4.2, OWASP Top 10 API (2023), NIST SP 800-115.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✔  Metrics Standard: CVSS v3.1 Scoring.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✔  Architecture: Vercel Edge Runtime, Convex DB, Vite, DOMPurify.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6430975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8B5CF6"/>
                </a:solidFill>
              </a:defRPr>
            </a:pPr>
            <a:r>
              <a:t>4-Phase Execution Pipeline</a:t>
            </a:r>
          </a:p>
          <a:p>
            <a:pPr>
              <a:spcBef>
                <a:spcPts val="800"/>
              </a:spcBef>
              <a:defRPr sz="1300" b="1">
                <a:solidFill>
                  <a:srgbClr val="00F2FE"/>
                </a:solidFill>
              </a:defRPr>
            </a:pPr>
            <a:r>
              <a:t>▶  Phase 1: Static Code Audit (SAST)</a:t>
            </a:r>
          </a:p>
          <a:p>
            <a:pPr>
              <a:spcBef>
                <a:spcPts val="200"/>
              </a:spcBef>
              <a:defRPr sz="1150">
                <a:solidFill>
                  <a:srgbClr val="CBD5E1"/>
                </a:solidFill>
              </a:defRPr>
            </a:pPr>
            <a:r>
              <a:t>    Line-by-line static analysis of Edge handlers (mcp-proxy.ts, rss-proxy.js, _cors.js).</a:t>
            </a:r>
          </a:p>
          <a:p>
            <a:pPr>
              <a:spcBef>
                <a:spcPts val="800"/>
              </a:spcBef>
              <a:defRPr sz="1300" b="1">
                <a:solidFill>
                  <a:srgbClr val="00F2FE"/>
                </a:solidFill>
              </a:defRPr>
            </a:pPr>
            <a:r>
              <a:t>▶  Phase 2: Edge Reverse Engineering</a:t>
            </a:r>
          </a:p>
          <a:p>
            <a:pPr>
              <a:spcBef>
                <a:spcPts val="200"/>
              </a:spcBef>
              <a:defRPr sz="1150">
                <a:solidFill>
                  <a:srgbClr val="CBD5E1"/>
                </a:solidFill>
              </a:defRPr>
            </a:pPr>
            <a:r>
              <a:t>    Uncovering Time-of-Check Time-of-Use (TOCTOU) DNS rebinding gaps in Edge fetch calls.</a:t>
            </a:r>
          </a:p>
          <a:p>
            <a:pPr>
              <a:spcBef>
                <a:spcPts val="800"/>
              </a:spcBef>
              <a:defRPr sz="1300" b="1">
                <a:solidFill>
                  <a:srgbClr val="00F2FE"/>
                </a:solidFill>
              </a:defRPr>
            </a:pPr>
            <a:r>
              <a:t>▶  Phase 3: Dynamic Verification &amp; Exploit PoCs</a:t>
            </a:r>
          </a:p>
          <a:p>
            <a:pPr>
              <a:spcBef>
                <a:spcPts val="200"/>
              </a:spcBef>
              <a:defRPr sz="1150">
                <a:solidFill>
                  <a:srgbClr val="CBD5E1"/>
                </a:solidFill>
              </a:defRPr>
            </a:pPr>
            <a:r>
              <a:t>    Executing Python-based test harness targeting loopback (127.0.0.1) &amp; cloud metadata (169.254.169.254).</a:t>
            </a:r>
          </a:p>
          <a:p>
            <a:pPr>
              <a:spcBef>
                <a:spcPts val="800"/>
              </a:spcBef>
              <a:defRPr sz="1300" b="1">
                <a:solidFill>
                  <a:srgbClr val="00F2FE"/>
                </a:solidFill>
              </a:defRPr>
            </a:pPr>
            <a:r>
              <a:t>▶  Phase 4: Security Hardening &amp; Patching</a:t>
            </a:r>
          </a:p>
          <a:p>
            <a:pPr>
              <a:spcBef>
                <a:spcPts val="200"/>
              </a:spcBef>
              <a:defRPr sz="1150">
                <a:solidFill>
                  <a:srgbClr val="CBD5E1"/>
                </a:solidFill>
              </a:defRPr>
            </a:pPr>
            <a:r>
              <a:t>    Constructing production code patches for single-pass socket pinning and recursive redirect 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★ SMART INDIA HACKATHON 2026 | PS ID: SIH26163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65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⚡ NTRO SPONSORING AGENCY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320040"/>
            <a:ext cx="914400" cy="347472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04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FEASIBILITY, RISKS &amp; MITIGATION MATRIX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Identified Security Findings &amp; Code-Level Remediation Strategies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1097280"/>
                <a:gridCol w="1097280"/>
                <a:gridCol w="3962095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F2FE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F2FE"/>
                          </a:solidFill>
                        </a:defRPr>
                      </a:pPr>
                      <a:r>
                        <a:t>Vulnerability Finding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F2FE"/>
                          </a:solidFill>
                        </a:defRPr>
                      </a:pPr>
                      <a:r>
                        <a:t>CVSS v3.1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F2FE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F2FE"/>
                          </a:solidFill>
                        </a:defRPr>
                      </a:pPr>
                      <a:r>
                        <a:t>Remediation Strategy &amp; Patch File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VULN-01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DNS Rebinding / TOCTOU SSRF in MCP Proxy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8.2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Single-pass socket pinning (patch_mcp_proxy_ssrf.ts)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VULN-02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RSS Proxy Open Redirect Allowlist Bypass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7.5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Recursive DNS IP validation (patch_rss_proxy_redirects.js)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Webhook Destination DNS Rebinding Gap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7.2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Pinned IP HTTP dispatch validation (patch_webhook_ssrf.ts)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VULN-04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CORS Origin Echoing with Credentials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6.5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Neutralizing Allow-Credentials on 403 (patch_cors_refusal.js)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VULN-05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Indefinite Anonymous Session Token Replay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6.1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IP Subnet token binding &amp; 1h TTL (patch_session_binding.js)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VULN-06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Client-Side DOM XSS Risk in RSS Parser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6.1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Strict DOMPurify HTML sanitization (src/services/rss.ts)</a:t>
                      </a:r>
                    </a:p>
                  </a:txBody>
                  <a:tcPr>
                    <a:solidFill>
                      <a:srgbClr val="121A2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VULN-07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Unbounded JSON Prefs Resource Exhaustion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5.3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CBD5E1"/>
                          </a:solidFill>
                        </a:defRPr>
                      </a:pPr>
                      <a:r>
                        <a:t>64KB payload size &amp; depth limits (patch_user_prefs.ts)</a:t>
                      </a:r>
                    </a:p>
                  </a:txBody>
                  <a:tcPr>
                    <a:solidFill>
                      <a:srgbClr val="0C111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★ SMART INDIA HACKATHON 2026 | PS ID: SIH26163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65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⚡ NTRO SPONSORING AGENCY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320040"/>
            <a:ext cx="914400" cy="347472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05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IMPACT AND OPERATIONAL BENEFITS FOR NTRO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Infrastructure Security, Data Protection &amp; Platform Resilience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120640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F2FE"/>
                </a:solidFill>
              </a:defRPr>
            </a:pPr>
            <a:r>
              <a:t>Infrastructure &amp; Cloud Protection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🛡️  Cloud Metadata Defense: Neutralizes requests to 169.254.169.254, protecting AWS EC2 / GCP instance tokens.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🛡️  Internal Service Isolation: Prevents malicious SSRF pivoting to loopback addresses (127.0.0.1:8080) and Redis ports.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🛡️  Serverless Resource Defense: Mitigates CPU resource exhaustion attacks on Vercel Edge functions.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242255" cy="4572000"/>
          </a:xfrm>
          <a:prstGeom prst="roundRect">
            <a:avLst/>
          </a:prstGeom>
          <a:solidFill>
            <a:srgbClr val="12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Platform Integrity &amp; Turnkey Value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⚡  Threat Dashboard Integrity: Guarantees OSINT threat intelligence feeds remain immune to stored DOM XSS payloads.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⚡  Session Hardening: Binds anonymous session tokens to IP subnets and reduces token TTL from 12h to 1h.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⚡  Turnkey Value for NTRO: Immediate production-ready code patches and automated CI/CD security regression test runner.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★ SMART INDIA HACKATHON 2026 | PS ID: SIH26163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657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F59E0B"/>
                </a:solidFill>
                <a:latin typeface="Arial"/>
              </a:defRPr>
            </a:pPr>
            <a:r>
              <a:t>⚡ NTRO SPONSORING AGENCY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320040"/>
            <a:ext cx="914400" cy="347472"/>
          </a:xfrm>
          <a:prstGeom prst="roundRect">
            <a:avLst/>
          </a:prstGeom>
          <a:solidFill>
            <a:srgbClr val="121A2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F2FE"/>
                </a:solidFill>
              </a:defRPr>
            </a:pPr>
            <a:r>
              <a:t>06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RESEARCH, REFERENCES &amp; REPOSITORY ASSETS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Official Code Deliverables &amp; Standard Framework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4572000"/>
          </a:xfrm>
          <a:prstGeom prst="roundRect">
            <a:avLst/>
          </a:prstGeom>
          <a:solidFill>
            <a:srgbClr val="121A2B"/>
          </a:solidFill>
          <a:ln w="254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0F2FE"/>
                </a:solidFill>
              </a:defRPr>
            </a:pPr>
            <a:r>
              <a:t>Project Code Assets &amp; Documentation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🔗  Official GitHub Repository: https://github.com/Shr-i-raj/world-monitor-security-assessment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🔗  Full VAPT Audit Report: SECURITY_ASSESSMENT_REPORT.md (Complete breakdown of 7 findings &amp; CVSS v3.1 metrics)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🔗  Discovery Methodology Guide: VULNERABILITY_DISCOVERY_METHODOLOGY.md (Step-by-step SAST &amp; Edge reverse engineering guide)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🔗  Automated Test Harness: security_tests/run_security_audit.py (Python verification suite)</a:t>
            </a:r>
          </a:p>
          <a:p>
            <a:pPr>
              <a:spcBef>
                <a:spcPts val="800"/>
              </a:spcBef>
              <a:defRPr sz="1250">
                <a:solidFill>
                  <a:srgbClr val="CBD5E1"/>
                </a:solidFill>
              </a:defRPr>
            </a:pPr>
            <a:r>
              <a:t>🔗  Security Hardening Patches: security_fixes/ (5 TypeScript / JavaScript patch files)</a:t>
            </a:r>
          </a:p>
          <a:p>
            <a:pPr>
              <a:spcBef>
                <a:spcPts val="1600"/>
              </a:spcBef>
              <a:defRPr sz="1500" b="1">
                <a:solidFill>
                  <a:srgbClr val="F59E0B"/>
                </a:solidFill>
              </a:defRPr>
            </a:pPr>
            <a:r>
              <a:t>Industry Standards &amp; Frameworks Followed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OWASP Web Security Testing Guide (WSTG v4.2)  |  OWASP Top 10 API Security Risks (2023)  |  NIST SP 800-115  |  CVSS v3.1 Standard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