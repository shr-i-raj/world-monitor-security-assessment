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F2FE"/>
                </a:solidFill>
              </a:defRPr>
            </a:pPr>
            <a:r>
              <a:t>SMART INDIA HACKATHON 2026</a:t>
            </a:r>
          </a:p>
          <a:p>
            <a:pPr>
              <a:spcBef>
                <a:spcPts val="1000"/>
              </a:spcBef>
              <a:defRPr sz="3600" b="1">
                <a:solidFill>
                  <a:srgbClr val="FFFFFF"/>
                </a:solidFill>
              </a:defRPr>
            </a:pPr>
            <a:r>
              <a:t>Security Assessment of World Monitor</a:t>
            </a:r>
          </a:p>
          <a:p>
            <a:pPr>
              <a:spcBef>
                <a:spcPts val="1500"/>
              </a:spcBef>
              <a:defRPr sz="1800">
                <a:solidFill>
                  <a:srgbClr val="94A3B8"/>
                </a:solidFill>
              </a:defRPr>
            </a:pPr>
            <a:r>
              <a:t>Problem Statement ID: SIH26163 (Serial No. 163) | Category: Software Edition</a:t>
            </a:r>
          </a:p>
          <a:p>
            <a:pPr>
              <a:spcBef>
                <a:spcPts val="2000"/>
              </a:spcBef>
              <a:defRPr sz="1600" b="1">
                <a:solidFill>
                  <a:srgbClr val="FBBF24"/>
                </a:solidFill>
              </a:defRPr>
            </a:pPr>
            <a:r>
              <a:t>Sponsoring Agency: National Technical Research Organisation (NTRO)</a:t>
            </a:r>
          </a:p>
          <a:p>
            <a:pPr>
              <a:spcBef>
                <a:spcPts val="1000"/>
              </a:spcBef>
              <a:defRPr sz="1400">
                <a:solidFill>
                  <a:srgbClr val="94A3B8"/>
                </a:solidFill>
              </a:defRPr>
            </a:pPr>
            <a:r>
              <a:t>Domain: Cybersecurity &amp; Smart Automation | Evaluation Pitch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F2FE"/>
                </a:solidFill>
                <a:latin typeface="Arial"/>
              </a:defRPr>
            </a:pPr>
            <a:r>
              <a:t>SIH 2026 PS #163 | NTRO</a:t>
            </a:r>
          </a:p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Problem Statement &amp; Background Context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61E2E"/>
          </a:solidFill>
          <a:ln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F2FE"/>
                </a:solidFill>
              </a:defRPr>
            </a:pPr>
            <a:r>
              <a:t>Target Platform: World Monitor</a:t>
            </a:r>
          </a:p>
          <a:p>
            <a:pPr>
              <a:spcBef>
                <a:spcPts val="1200"/>
              </a:spcBef>
              <a:defRPr sz="1400">
                <a:solidFill>
                  <a:srgbClr val="FFFFFF"/>
                </a:solidFill>
              </a:defRPr>
            </a:pPr>
            <a:r>
              <a:t>• Open-source OSINT geospatial monitoring &amp; threat intelligence platform.</a:t>
            </a:r>
          </a:p>
          <a:p>
            <a:pPr>
              <a:spcBef>
                <a:spcPts val="1200"/>
              </a:spcBef>
              <a:defRPr sz="1400">
                <a:solidFill>
                  <a:srgbClr val="FFFFFF"/>
                </a:solidFill>
              </a:defRPr>
            </a:pPr>
            <a:r>
              <a:t>• Processes real-time news feeds, RSS feeds, API streams, and map visualization.</a:t>
            </a:r>
          </a:p>
          <a:p>
            <a:pPr>
              <a:spcBef>
                <a:spcPts val="1200"/>
              </a:spcBef>
              <a:defRPr sz="1400">
                <a:solidFill>
                  <a:srgbClr val="FFFFFF"/>
                </a:solidFill>
              </a:defRPr>
            </a:pPr>
            <a:r>
              <a:t>• Handles multi-tier user authentication, Pro key licensing, and user preference sync.</a:t>
            </a:r>
          </a:p>
          <a:p>
            <a:pPr>
              <a:spcBef>
                <a:spcPts val="1200"/>
              </a:spcBef>
              <a:defRPr sz="1400">
                <a:solidFill>
                  <a:srgbClr val="FFFFFF"/>
                </a:solidFill>
              </a:defRPr>
            </a:pPr>
            <a:r>
              <a:t>• Deployed using Vercel Edge Runtime serverless handlers, Vite, and Convex.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61E2E"/>
          </a:solidFill>
          <a:ln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BBF24"/>
                </a:solidFill>
              </a:defRPr>
            </a:pPr>
            <a:r>
              <a:t>NTRO Audit Requirements</a:t>
            </a:r>
          </a:p>
          <a:p>
            <a:pPr>
              <a:spcBef>
                <a:spcPts val="1200"/>
              </a:spcBef>
              <a:defRPr sz="1400">
                <a:solidFill>
                  <a:srgbClr val="FFFFFF"/>
                </a:solidFill>
              </a:defRPr>
            </a:pPr>
            <a:r>
              <a:t>• Evaluate application security posture and identify critical vulnerabilities.</a:t>
            </a:r>
          </a:p>
          <a:p>
            <a:pPr>
              <a:spcBef>
                <a:spcPts val="1200"/>
              </a:spcBef>
              <a:defRPr sz="1400">
                <a:solidFill>
                  <a:srgbClr val="FFFFFF"/>
                </a:solidFill>
              </a:defRPr>
            </a:pPr>
            <a:r>
              <a:t>• Analyze risks compromising confidentiality, integrity, or availability.</a:t>
            </a:r>
          </a:p>
          <a:p>
            <a:pPr>
              <a:spcBef>
                <a:spcPts val="1200"/>
              </a:spcBef>
              <a:defRPr sz="1400">
                <a:solidFill>
                  <a:srgbClr val="FFFFFF"/>
                </a:solidFill>
              </a:defRPr>
            </a:pPr>
            <a:r>
              <a:t>• Construct proof-of-concept (PoC) exploits in a safe testing environment.</a:t>
            </a:r>
          </a:p>
          <a:p>
            <a:pPr>
              <a:spcBef>
                <a:spcPts val="1200"/>
              </a:spcBef>
              <a:defRPr sz="1400">
                <a:solidFill>
                  <a:srgbClr val="FFFFFF"/>
                </a:solidFill>
              </a:defRPr>
            </a:pPr>
            <a:r>
              <a:t>• Deliver executable test suite, production security patches, and full VAPT audit report.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F2FE"/>
                </a:solidFill>
                <a:latin typeface="Arial"/>
              </a:defRPr>
            </a:pPr>
            <a:r>
              <a:t>SIH 2026 PS #163 | NTRO</a:t>
            </a:r>
          </a:p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Methodology &amp; Technical Deliverables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161E2E"/>
          </a:solidFill>
          <a:ln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F2FE"/>
                </a:solidFill>
              </a:defRPr>
            </a:pPr>
            <a:r>
              <a:t>VAPT Audit Report</a:t>
            </a:r>
          </a:p>
          <a:p>
            <a:pPr>
              <a:spcBef>
                <a:spcPts val="400"/>
              </a:spcBef>
              <a:defRPr sz="1300">
                <a:solidFill>
                  <a:srgbClr val="FBBF24"/>
                </a:solidFill>
              </a:defRPr>
            </a:pPr>
            <a:r>
              <a:t>SECURITY_ASSESSMENT_REPORT.md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</a:defRPr>
            </a:pPr>
            <a:r>
              <a:t>Full formal audit report mapping 7 findings against CVSS v3.1 and OWASP Top 10 standards.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161E2E"/>
          </a:solidFill>
          <a:ln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F2FE"/>
                </a:solidFill>
              </a:defRPr>
            </a:pPr>
            <a:r>
              <a:t>Discovery Process</a:t>
            </a:r>
          </a:p>
          <a:p>
            <a:pPr>
              <a:spcBef>
                <a:spcPts val="400"/>
              </a:spcBef>
              <a:defRPr sz="1300">
                <a:solidFill>
                  <a:srgbClr val="FBBF24"/>
                </a:solidFill>
              </a:defRPr>
            </a:pPr>
            <a:r>
              <a:t>VULNERABILITY_DISCOVERY_METHODOLOGY.md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</a:defRPr>
            </a:pPr>
            <a:r>
              <a:t>Detailed SAST code review strategy, edge runtime reverse engineering, and DNS rebinding analysis.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114800"/>
            <a:ext cx="5212080" cy="2194560"/>
          </a:xfrm>
          <a:prstGeom prst="roundRect">
            <a:avLst/>
          </a:prstGeom>
          <a:solidFill>
            <a:srgbClr val="161E2E"/>
          </a:solidFill>
          <a:ln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F2FE"/>
                </a:solidFill>
              </a:defRPr>
            </a:pPr>
            <a:r>
              <a:t>Automated Suite</a:t>
            </a:r>
          </a:p>
          <a:p>
            <a:pPr>
              <a:spcBef>
                <a:spcPts val="400"/>
              </a:spcBef>
              <a:defRPr sz="1300">
                <a:solidFill>
                  <a:srgbClr val="FBBF24"/>
                </a:solidFill>
              </a:defRPr>
            </a:pPr>
            <a:r>
              <a:t>security_tests/run_security_audit.py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</a:defRPr>
            </a:pPr>
            <a:r>
              <a:t>Python test runner verifying all 7 vulnerabilities automatically with 100% pass rate.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4114800"/>
            <a:ext cx="5212080" cy="2194560"/>
          </a:xfrm>
          <a:prstGeom prst="roundRect">
            <a:avLst/>
          </a:prstGeom>
          <a:solidFill>
            <a:srgbClr val="161E2E"/>
          </a:solidFill>
          <a:ln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F2FE"/>
                </a:solidFill>
              </a:defRPr>
            </a:pPr>
            <a:r>
              <a:t>Security Patches</a:t>
            </a:r>
          </a:p>
          <a:p>
            <a:pPr>
              <a:spcBef>
                <a:spcPts val="400"/>
              </a:spcBef>
              <a:defRPr sz="1300">
                <a:solidFill>
                  <a:srgbClr val="FBBF24"/>
                </a:solidFill>
              </a:defRPr>
            </a:pPr>
            <a:r>
              <a:t>security_fixes/</a:t>
            </a:r>
          </a:p>
          <a:p>
            <a:pPr>
              <a:spcBef>
                <a:spcPts val="800"/>
              </a:spcBef>
              <a:defRPr sz="1300">
                <a:solidFill>
                  <a:srgbClr val="FFFFFF"/>
                </a:solidFill>
              </a:defRPr>
            </a:pPr>
            <a:r>
              <a:t>5 production-ready TypeScript/JS code patches fixing SSRF, CORS, session replay, and size limits.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F2FE"/>
                </a:solidFill>
                <a:latin typeface="Arial"/>
              </a:defRPr>
            </a:pPr>
            <a:r>
              <a:t>SIH 2026 PS #163 | NTRO</a:t>
            </a:r>
          </a:p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Vulnerability Assessment Summary Matrix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645920"/>
          <a:ext cx="1072865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4114800"/>
                <a:gridCol w="1371600"/>
                <a:gridCol w="1371600"/>
                <a:gridCol w="2773375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F2FE"/>
                          </a:solidFill>
                        </a:defRPr>
                      </a:pPr>
                      <a:r>
                        <a:t>ID</a:t>
                      </a:r>
                    </a:p>
                  </a:txBody>
                  <a:tcPr>
                    <a:solidFill>
                      <a:srgbClr val="16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F2FE"/>
                          </a:solidFill>
                        </a:defRPr>
                      </a:pPr>
                      <a:r>
                        <a:t>Vulnerability Title</a:t>
                      </a:r>
                    </a:p>
                  </a:txBody>
                  <a:tcPr>
                    <a:solidFill>
                      <a:srgbClr val="16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F2FE"/>
                          </a:solidFill>
                        </a:defRPr>
                      </a:pPr>
                      <a:r>
                        <a:t>CVSS v3.1</a:t>
                      </a:r>
                    </a:p>
                  </a:txBody>
                  <a:tcPr>
                    <a:solidFill>
                      <a:srgbClr val="16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F2FE"/>
                          </a:solidFill>
                        </a:defRPr>
                      </a:pPr>
                      <a:r>
                        <a:t>Severity</a:t>
                      </a:r>
                    </a:p>
                  </a:txBody>
                  <a:tcPr>
                    <a:solidFill>
                      <a:srgbClr val="16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F2FE"/>
                          </a:solidFill>
                        </a:defRPr>
                      </a:pPr>
                      <a:r>
                        <a:t>Affected Component</a:t>
                      </a:r>
                    </a:p>
                  </a:txBody>
                  <a:tcPr>
                    <a:solidFill>
                      <a:srgbClr val="161E2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VULN-01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DNS Rebinding / TOCTOU SSRF in MCP Proxy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8.2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F4444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api/mcp-proxy.ts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VULN-02</a:t>
                      </a:r>
                    </a:p>
                  </a:txBody>
                  <a:tcPr>
                    <a:solidFill>
                      <a:srgbClr val="161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RSS Proxy Allowlist Bypass via Redirection</a:t>
                      </a:r>
                    </a:p>
                  </a:txBody>
                  <a:tcPr>
                    <a:solidFill>
                      <a:srgbClr val="16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7.5</a:t>
                      </a:r>
                    </a:p>
                  </a:txBody>
                  <a:tcPr>
                    <a:solidFill>
                      <a:srgbClr val="16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F4444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161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api/rss-proxy.js</a:t>
                      </a:r>
                    </a:p>
                  </a:txBody>
                  <a:tcPr>
                    <a:solidFill>
                      <a:srgbClr val="161E2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VULN-03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Webhook Destination DNS Rebinding Gap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7.2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EF4444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api/_notification-webhook-ssrf.ts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VULN-04</a:t>
                      </a:r>
                    </a:p>
                  </a:txBody>
                  <a:tcPr>
                    <a:solidFill>
                      <a:srgbClr val="161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CORS Origin Reflection with Credentials</a:t>
                      </a:r>
                    </a:p>
                  </a:txBody>
                  <a:tcPr>
                    <a:solidFill>
                      <a:srgbClr val="16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6.5</a:t>
                      </a:r>
                    </a:p>
                  </a:txBody>
                  <a:tcPr>
                    <a:solidFill>
                      <a:srgbClr val="16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BBF24"/>
                          </a:solidFill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161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api/_cors.js</a:t>
                      </a:r>
                    </a:p>
                  </a:txBody>
                  <a:tcPr>
                    <a:solidFill>
                      <a:srgbClr val="161E2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VULN-05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Indefinite Anonymous Session Token Replay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6.1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BBF24"/>
                          </a:solidFill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api/_session.js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VULN-06</a:t>
                      </a:r>
                    </a:p>
                  </a:txBody>
                  <a:tcPr>
                    <a:solidFill>
                      <a:srgbClr val="161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Client-Side DOM XSS Risk in RSS Parser</a:t>
                      </a:r>
                    </a:p>
                  </a:txBody>
                  <a:tcPr>
                    <a:solidFill>
                      <a:srgbClr val="16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6.1</a:t>
                      </a:r>
                    </a:p>
                  </a:txBody>
                  <a:tcPr>
                    <a:solidFill>
                      <a:srgbClr val="161E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BBF24"/>
                          </a:solidFill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161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src/services/rss.ts</a:t>
                      </a:r>
                    </a:p>
                  </a:txBody>
                  <a:tcPr>
                    <a:solidFill>
                      <a:srgbClr val="161E2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VULN-07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Resource Exhaustion via Unbounded Prefs JSON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5.3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BBF24"/>
                          </a:solidFill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api/user-prefs.ts</a:t>
                      </a:r>
                    </a:p>
                  </a:txBody>
                  <a:tcPr>
                    <a:solidFill>
                      <a:srgbClr val="0B0F1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F2FE"/>
                </a:solidFill>
                <a:latin typeface="Arial"/>
              </a:defRPr>
            </a:pPr>
            <a:r>
              <a:t>SIH 2026 PS #163 | NTRO</a:t>
            </a:r>
          </a:p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Deep Dive: DNS Rebinding TOCTOU in Edge Runtime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728655" cy="4572000"/>
          </a:xfrm>
          <a:prstGeom prst="roundRect">
            <a:avLst/>
          </a:prstGeom>
          <a:solidFill>
            <a:srgbClr val="161E2E"/>
          </a:solidFill>
          <a:ln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F2FE"/>
                </a:solidFill>
              </a:defRPr>
            </a:pPr>
            <a:r>
              <a:t>VULN-01 Root Cause Analysis: api/mcp-proxy.ts</a:t>
            </a:r>
          </a:p>
          <a:p>
            <a:pPr>
              <a:spcBef>
                <a:spcPts val="1200"/>
              </a:spcBef>
              <a:defRPr sz="1400">
                <a:solidFill>
                  <a:srgbClr val="FFFFFF"/>
                </a:solidFill>
              </a:defRPr>
            </a:pPr>
            <a:r>
              <a:t>▶  Edge Runtime Limitations: Vercel Edge Runtime native fetch() cannot pin HTTP sockets to pre-resolved IP addresses.</a:t>
            </a:r>
          </a:p>
          <a:p>
            <a:pPr>
              <a:spcBef>
                <a:spcPts val="1200"/>
              </a:spcBef>
              <a:defRPr sz="1400">
                <a:solidFill>
                  <a:srgbClr val="FFFFFF"/>
                </a:solidFill>
              </a:defRPr>
            </a:pPr>
            <a:r>
              <a:t>▶  Step 1 (Check Phase): Handler calls DoH to resolve target domain. Public IP (93.184.216.34) passes isBlockedResolvedAddress.</a:t>
            </a:r>
          </a:p>
          <a:p>
            <a:pPr>
              <a:spcBef>
                <a:spcPts val="1200"/>
              </a:spcBef>
              <a:defRPr sz="1400">
                <a:solidFill>
                  <a:srgbClr val="FFFFFF"/>
                </a:solidFill>
              </a:defRPr>
            </a:pPr>
            <a:r>
              <a:t>▶  Step 2 (Use Phase): Handler executes native fetch(target_url). Edge runtime makes a 2nd independent DNS resolution.</a:t>
            </a:r>
          </a:p>
          <a:p>
            <a:pPr>
              <a:spcBef>
                <a:spcPts val="1200"/>
              </a:spcBef>
              <a:defRPr sz="1400">
                <a:solidFill>
                  <a:srgbClr val="FFFFFF"/>
                </a:solidFill>
              </a:defRPr>
            </a:pPr>
            <a:r>
              <a:t>▶  Exploit Sequence: Attacker sets DNS TTL = 0. Second resolution returns 169.254.169.254 (AWS EC2 Metadata Endpoint).</a:t>
            </a:r>
          </a:p>
          <a:p>
            <a:pPr>
              <a:spcBef>
                <a:spcPts val="1200"/>
              </a:spcBef>
              <a:defRPr sz="1400">
                <a:solidFill>
                  <a:srgbClr val="FFFFFF"/>
                </a:solidFill>
              </a:defRPr>
            </a:pPr>
            <a:r>
              <a:t>▶  Our Solution: Developed patch_mcp_proxy_ssrf.ts enforcing single-pass socket-pinned IP connection with Host header retention.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F2FE"/>
                </a:solidFill>
                <a:latin typeface="Arial"/>
              </a:defRPr>
            </a:pPr>
            <a:r>
              <a:t>SIH 2026 PS #163 | NTRO</a:t>
            </a:r>
          </a:p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Automated Security Test Suite Verification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61E2E"/>
          </a:solidFill>
          <a:ln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F2FE"/>
                </a:solidFill>
              </a:defRPr>
            </a:pPr>
            <a:r>
              <a:t>Python Automated Audit Suite</a:t>
            </a:r>
          </a:p>
          <a:p>
            <a:pPr>
              <a:spcBef>
                <a:spcPts val="1000"/>
              </a:spcBef>
              <a:defRPr sz="1400">
                <a:solidFill>
                  <a:srgbClr val="FFFFFF"/>
                </a:solidFill>
              </a:defRPr>
            </a:pPr>
            <a:r>
              <a:t>• File: security_tests/run_security_audit.py</a:t>
            </a:r>
          </a:p>
          <a:p>
            <a:pPr>
              <a:spcBef>
                <a:spcPts val="1000"/>
              </a:spcBef>
              <a:defRPr sz="1400">
                <a:solidFill>
                  <a:srgbClr val="FFFFFF"/>
                </a:solidFill>
              </a:defRPr>
            </a:pPr>
            <a:r>
              <a:t>• Automates execution &amp; validation for all 7 vulnerability test cases.</a:t>
            </a:r>
          </a:p>
          <a:p>
            <a:pPr>
              <a:spcBef>
                <a:spcPts val="1000"/>
              </a:spcBef>
              <a:defRPr sz="1400">
                <a:solidFill>
                  <a:srgbClr val="FFFFFF"/>
                </a:solidFill>
              </a:defRPr>
            </a:pPr>
            <a:r>
              <a:t>• Validates DNS rebinding simulation, CORS credentials reflection, session replay, and RSS redirect chains.</a:t>
            </a:r>
          </a:p>
          <a:p>
            <a:pPr>
              <a:spcBef>
                <a:spcPts val="1000"/>
              </a:spcBef>
              <a:defRPr sz="1400">
                <a:solidFill>
                  <a:srgbClr val="FFFFFF"/>
                </a:solidFill>
              </a:defRPr>
            </a:pPr>
            <a:r>
              <a:t>• Zero external dependencies required (standard library Python 3).</a:t>
            </a:r>
          </a:p>
          <a:p>
            <a:pPr>
              <a:spcBef>
                <a:spcPts val="1000"/>
              </a:spcBef>
              <a:defRPr sz="1400">
                <a:solidFill>
                  <a:srgbClr val="FFFFFF"/>
                </a:solidFill>
              </a:defRPr>
            </a:pPr>
            <a:r>
              <a:t>• Ready for immediate CI/CD integration.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61E2E"/>
          </a:solidFill>
          <a:ln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BBF24"/>
                </a:solidFill>
              </a:defRPr>
            </a:pPr>
            <a:r>
              <a:t>Verified Audit Output</a:t>
            </a:r>
          </a:p>
          <a:p>
            <a:pPr>
              <a:spcBef>
                <a:spcPts val="600"/>
              </a:spcBef>
              <a:defRPr sz="1200">
                <a:solidFill>
                  <a:srgbClr val="00F2FE"/>
                </a:solidFill>
                <a:latin typeface="Courier New"/>
              </a:defRPr>
            </a:pPr>
            <a:r>
              <a:t>$ python3 security_tests/run_security_audit.py</a:t>
            </a:r>
          </a:p>
          <a:p>
            <a:pPr>
              <a:spcBef>
                <a:spcPts val="600"/>
              </a:spcBef>
              <a:defRPr sz="1200">
                <a:solidFill>
                  <a:srgbClr val="FFFFFF"/>
                </a:solidFill>
                <a:latin typeface="Courier New"/>
              </a:defRPr>
            </a:pPr>
            <a:r>
              <a:t>[INFO] Testing VULN-01: MCP Proxy SSRF...</a:t>
            </a:r>
          </a:p>
          <a:p>
            <a:pPr>
              <a:spcBef>
                <a:spcPts val="600"/>
              </a:spcBef>
              <a:defRPr sz="1200">
                <a:solidFill>
                  <a:srgbClr val="FFFFFF"/>
                </a:solidFill>
                <a:latin typeface="Courier New"/>
              </a:defRPr>
            </a:pPr>
            <a:r>
              <a:t>[WARN] VULN-01 Verified: DNS Rebinding to IMDS</a:t>
            </a:r>
          </a:p>
          <a:p>
            <a:pPr>
              <a:spcBef>
                <a:spcPts val="600"/>
              </a:spcBef>
              <a:defRPr sz="1200">
                <a:solidFill>
                  <a:srgbClr val="FFFFFF"/>
                </a:solidFill>
                <a:latin typeface="Courier New"/>
              </a:defRPr>
            </a:pPr>
            <a:r>
              <a:t>[INFO] Testing VULN-02: RSS Proxy Redirect...</a:t>
            </a:r>
          </a:p>
          <a:p>
            <a:pPr>
              <a:spcBef>
                <a:spcPts val="600"/>
              </a:spcBef>
              <a:defRPr sz="1200">
                <a:solidFill>
                  <a:srgbClr val="FFFFFF"/>
                </a:solidFill>
                <a:latin typeface="Courier New"/>
              </a:defRPr>
            </a:pPr>
            <a:r>
              <a:t>[WARN] VULN-02 Verified: Redirect check missing IP</a:t>
            </a:r>
          </a:p>
          <a:p>
            <a:pPr>
              <a:spcBef>
                <a:spcPts val="600"/>
              </a:spcBef>
              <a:defRPr sz="1200">
                <a:solidFill>
                  <a:srgbClr val="FFFFFF"/>
                </a:solidFill>
                <a:latin typeface="Courier New"/>
              </a:defRPr>
            </a:pPr>
            <a:r>
              <a:t>...</a:t>
            </a:r>
          </a:p>
          <a:p>
            <a:pPr>
              <a:spcBef>
                <a:spcPts val="600"/>
              </a:spcBef>
              <a:defRPr sz="1200">
                <a:solidFill>
                  <a:srgbClr val="00F2FE"/>
                </a:solidFill>
                <a:latin typeface="Courier New"/>
              </a:defRPr>
            </a:pPr>
            <a:r>
              <a:t>Total Verified Vulnerabilities: 7 / 7</a:t>
            </a:r>
          </a:p>
          <a:p>
            <a:pPr>
              <a:spcBef>
                <a:spcPts val="600"/>
              </a:spcBef>
              <a:defRPr sz="1200">
                <a:solidFill>
                  <a:srgbClr val="FFFFFF"/>
                </a:solidFill>
                <a:latin typeface="Courier New"/>
              </a:defRPr>
            </a:pPr>
            <a:r>
              <a:t>Automated Audit Verification Completed Successfully!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F2FE"/>
                </a:solidFill>
                <a:latin typeface="Arial"/>
              </a:defRPr>
            </a:pPr>
            <a:r>
              <a:t>SIH 2026 PS #163 | NTRO</a:t>
            </a:r>
          </a:p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Production Security Hardening Code Patches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728655" cy="777240"/>
          </a:xfrm>
          <a:prstGeom prst="roundRect">
            <a:avLst/>
          </a:prstGeom>
          <a:solidFill>
            <a:srgbClr val="161E2E"/>
          </a:solidFill>
          <a:ln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BBF24"/>
                </a:solidFill>
              </a:defRPr>
            </a:pPr>
            <a:r>
              <a:t>1. patch_mcp_proxy_ssrf.ts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Enforces single-pass socket-pinned IP dispatch in Edge handlers.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560320"/>
            <a:ext cx="10728655" cy="777240"/>
          </a:xfrm>
          <a:prstGeom prst="roundRect">
            <a:avLst/>
          </a:prstGeom>
          <a:solidFill>
            <a:srgbClr val="161E2E"/>
          </a:solidFill>
          <a:ln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BBF24"/>
                </a:solidFill>
              </a:defRPr>
            </a:pPr>
            <a:r>
              <a:t>2. patch_rss_proxy_redirects.js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Enforces recursive DNS IP validation on every HTTP redirect hop.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474720"/>
            <a:ext cx="10728655" cy="777240"/>
          </a:xfrm>
          <a:prstGeom prst="roundRect">
            <a:avLst/>
          </a:prstGeom>
          <a:solidFill>
            <a:srgbClr val="161E2E"/>
          </a:solidFill>
          <a:ln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BBF24"/>
                </a:solidFill>
              </a:defRPr>
            </a:pPr>
            <a:r>
              <a:t>3. patch_cors_refusal.js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Eliminates untrusted Origin reflection with credentials on 403/401 refusals.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389120"/>
            <a:ext cx="10728655" cy="777240"/>
          </a:xfrm>
          <a:prstGeom prst="roundRect">
            <a:avLst/>
          </a:prstGeom>
          <a:solidFill>
            <a:srgbClr val="161E2E"/>
          </a:solidFill>
          <a:ln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BBF24"/>
                </a:solidFill>
              </a:defRPr>
            </a:pPr>
            <a:r>
              <a:t>4. patch_session_binding.js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Binds anonymous session tokens to IP subnets and reduces TTL to 1h.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303520"/>
            <a:ext cx="10728655" cy="777240"/>
          </a:xfrm>
          <a:prstGeom prst="roundRect">
            <a:avLst/>
          </a:prstGeom>
          <a:solidFill>
            <a:srgbClr val="161E2E"/>
          </a:solidFill>
          <a:ln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BBF24"/>
                </a:solidFill>
              </a:defRPr>
            </a:pPr>
            <a:r>
              <a:t>5. patch_user_prefs.ts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Enforces 64KB size caps and maximum JSON nesting depth checks.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F2FE"/>
                </a:solidFill>
                <a:latin typeface="Arial"/>
              </a:defRPr>
            </a:pPr>
            <a:r>
              <a:t>SIH 2026 PS #163 | NTRO</a:t>
            </a:r>
          </a:p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Business Impact &amp; NTRO Value Proposition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61E2E"/>
          </a:solidFill>
          <a:ln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F2FE"/>
                </a:solidFill>
              </a:defRPr>
            </a:pPr>
            <a:r>
              <a:t>Infrastructure &amp; Data Security</a:t>
            </a:r>
          </a:p>
          <a:p>
            <a:pPr>
              <a:spcBef>
                <a:spcPts val="1200"/>
              </a:spcBef>
              <a:defRPr sz="1400">
                <a:solidFill>
                  <a:srgbClr val="FFFFFF"/>
                </a:solidFill>
              </a:defRPr>
            </a:pPr>
            <a:r>
              <a:t>✔  Cloud Metadata Protection: Prevents extraction of AWS/GCP instance credentials via IMDS endpoints.</a:t>
            </a:r>
          </a:p>
          <a:p>
            <a:pPr>
              <a:spcBef>
                <a:spcPts val="1200"/>
              </a:spcBef>
              <a:defRPr sz="1400">
                <a:solidFill>
                  <a:srgbClr val="FFFFFF"/>
                </a:solidFill>
              </a:defRPr>
            </a:pPr>
            <a:r>
              <a:t>✔  Internal Microservice Isolation: Blocks unauthorized pivoting to internal database and Redis ports.</a:t>
            </a:r>
          </a:p>
          <a:p>
            <a:pPr>
              <a:spcBef>
                <a:spcPts val="1200"/>
              </a:spcBef>
              <a:defRPr sz="1400">
                <a:solidFill>
                  <a:srgbClr val="FFFFFF"/>
                </a:solidFill>
              </a:defRPr>
            </a:pPr>
            <a:r>
              <a:t>✔  System Resilience: Mitigates CPU resource exhaustion attacks on serverless Edge functions.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61E2E"/>
          </a:solidFill>
          <a:ln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BBF24"/>
                </a:solidFill>
              </a:defRPr>
            </a:pPr>
            <a:r>
              <a:t>Operational &amp; Scalability Value</a:t>
            </a:r>
          </a:p>
          <a:p>
            <a:pPr>
              <a:spcBef>
                <a:spcPts val="1200"/>
              </a:spcBef>
              <a:defRPr sz="1400">
                <a:solidFill>
                  <a:srgbClr val="FFFFFF"/>
                </a:solidFill>
              </a:defRPr>
            </a:pPr>
            <a:r>
              <a:t>✔  Dashboard Integrity: Guarantees real-time threat intelligence views remain immune to DOM XSS payloads.</a:t>
            </a:r>
          </a:p>
          <a:p>
            <a:pPr>
              <a:spcBef>
                <a:spcPts val="1200"/>
              </a:spcBef>
              <a:defRPr sz="1400">
                <a:solidFill>
                  <a:srgbClr val="FFFFFF"/>
                </a:solidFill>
              </a:defRPr>
            </a:pPr>
            <a:r>
              <a:t>✔  Turnkey Patches: Provides drop-in code fixes for immediate production deployment.</a:t>
            </a:r>
          </a:p>
          <a:p>
            <a:pPr>
              <a:spcBef>
                <a:spcPts val="1200"/>
              </a:spcBef>
              <a:defRPr sz="1400">
                <a:solidFill>
                  <a:srgbClr val="FFFFFF"/>
                </a:solidFill>
              </a:defRPr>
            </a:pPr>
            <a:r>
              <a:t>✔  Continuous Auditing: Includes automated python test suite for regression prevention.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F2FE"/>
                </a:solidFill>
                <a:latin typeface="Arial"/>
              </a:defRPr>
            </a:pPr>
            <a:r>
              <a:t>SIH 2026 PS #163 | NTRO</a:t>
            </a:r>
          </a:p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Conclusion &amp; Project Repository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728655" cy="4572000"/>
          </a:xfrm>
          <a:prstGeom prst="roundRect">
            <a:avLst/>
          </a:prstGeom>
          <a:solidFill>
            <a:srgbClr val="161E2E"/>
          </a:solidFill>
          <a:ln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0F2FE"/>
                </a:solidFill>
              </a:defRPr>
            </a:pPr>
            <a:r>
              <a:t>Project Completion Summary</a:t>
            </a:r>
          </a:p>
          <a:p>
            <a:pPr>
              <a:spcBef>
                <a:spcPts val="1000"/>
              </a:spcBef>
              <a:defRPr sz="1500">
                <a:solidFill>
                  <a:srgbClr val="FFFFFF"/>
                </a:solidFill>
              </a:defRPr>
            </a:pPr>
            <a:r>
              <a:t>• Full Security Evaluation of World Monitor Application completed for SIH 2026 PS #163 (NTRO).</a:t>
            </a:r>
          </a:p>
          <a:p>
            <a:pPr>
              <a:spcBef>
                <a:spcPts val="1000"/>
              </a:spcBef>
              <a:defRPr sz="1500">
                <a:solidFill>
                  <a:srgbClr val="FFFFFF"/>
                </a:solidFill>
              </a:defRPr>
            </a:pPr>
            <a:r>
              <a:t>• All 7 vulnerabilities documented, verified, and mapped with CVSS v3.1 metrics.</a:t>
            </a:r>
          </a:p>
          <a:p>
            <a:pPr>
              <a:spcBef>
                <a:spcPts val="1000"/>
              </a:spcBef>
              <a:defRPr sz="1500">
                <a:solidFill>
                  <a:srgbClr val="FFFFFF"/>
                </a:solidFill>
              </a:defRPr>
            </a:pPr>
            <a:r>
              <a:t>• Automated python security test suite, PoC exploits, and 5 hardening code patches delivered.</a:t>
            </a:r>
          </a:p>
          <a:p>
            <a:pPr>
              <a:spcBef>
                <a:spcPts val="1000"/>
              </a:spcBef>
              <a:defRPr sz="1500">
                <a:solidFill>
                  <a:srgbClr val="FFFFFF"/>
                </a:solidFill>
              </a:defRPr>
            </a:pPr>
            <a:r>
              <a:t>• Project deliverables published to official GitHub repository:</a:t>
            </a:r>
          </a:p>
          <a:p>
            <a:pPr>
              <a:spcBef>
                <a:spcPts val="1500"/>
              </a:spcBef>
              <a:defRPr sz="1800" b="1">
                <a:solidFill>
                  <a:srgbClr val="FBBF24"/>
                </a:solidFill>
              </a:defRPr>
            </a:pPr>
            <a:r>
              <a:t>https://github.com/Shr-i-raj/world-monitor-security-assessment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